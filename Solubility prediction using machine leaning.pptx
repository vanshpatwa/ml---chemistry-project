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81" r:id="rId5"/>
    <p:sldId id="278" r:id="rId6"/>
    <p:sldId id="273" r:id="rId7"/>
    <p:sldId id="279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28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79" autoAdjust="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501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431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250E7-7521-7CF8-B24E-A00381032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0B9176-DECD-B1B4-8337-AE8F0F345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5F980-B3AC-B530-7797-A5C15DECB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AE98B-816C-5B60-7419-52D9F211B5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59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69F71-9083-D552-083C-D34DC56BD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A8D2D0-3281-556B-38D3-DC1465FAB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EBD48E-5E2F-2ACD-E851-1A2514A9E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88780-8510-6C86-F260-4FF2D622C4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654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C2037-7566-EE98-0F7D-D267DE91F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B302DC-601A-F17F-CB25-B6BE89015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A35A5-5165-0451-22EA-D0A645DB6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9BA49-1926-56D9-46E0-045C4A8891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64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822E0-47CE-4667-EE65-E950F9E28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EC9D1-7AAC-EEAE-3FE8-A11A9B823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0333C-56C8-D513-D882-65E7206FF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BCC57-9FD2-3023-7AFF-FD8784C14A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7010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92F83-54E2-E062-63C4-612270C1A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E63E66-5566-74BC-6E06-71E01C2C52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680B8D-BA30-E2E5-7468-51CDC69F3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B4C55-8B67-2495-8C6A-C408A31DD0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356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A74F2-B052-902C-2EF1-D90297A08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D9097-0BB0-7A32-7B50-E105FF31A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830A66-B40C-34B8-94CF-6BE472918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C1279-DCB7-B1D4-169C-9E6FB84DD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3011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B984C-FAF1-F51A-87DB-8F7FD0865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FA4628-2C64-9819-187A-58508E951C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282AA-B4DB-9BB5-612B-9B5267E23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879AD-1670-30B6-7686-3571B17B44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113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bstract image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3456" y="2334640"/>
            <a:ext cx="9144000" cy="2286000"/>
          </a:xfrm>
        </p:spPr>
        <p:txBody>
          <a:bodyPr/>
          <a:lstStyle/>
          <a:p>
            <a:r>
              <a:rPr lang="en-US" dirty="0"/>
              <a:t>Solubility prediction using machine leaning.</a:t>
            </a:r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itle 14">
            <a:extLst>
              <a:ext uri="{FF2B5EF4-FFF2-40B4-BE49-F238E27FC236}">
                <a16:creationId xmlns:a16="http://schemas.microsoft.com/office/drawing/2014/main" id="{9C373000-EEA1-D16F-189A-338FFDA2E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090" y="205578"/>
            <a:ext cx="5066250" cy="690880"/>
          </a:xfrm>
        </p:spPr>
        <p:txBody>
          <a:bodyPr/>
          <a:lstStyle/>
          <a:p>
            <a:r>
              <a:rPr lang="en-US" dirty="0"/>
              <a:t>Why Solubility Matters?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092744-C039-9B95-0919-0F48E6FE7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191" y="1663430"/>
            <a:ext cx="11721829" cy="4503907"/>
          </a:xfrm>
        </p:spPr>
        <p:txBody>
          <a:bodyPr/>
          <a:lstStyle/>
          <a:p>
            <a:r>
              <a:rPr lang="en-US" sz="1600" dirty="0"/>
              <a:t>Poor aqueous solubility accounts for a massive percentage of early-stage failures in pharmaceutical development.</a:t>
            </a: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Laboratory bench measurements of log(s)require physical compounds, high-purity solvents, and days of experimental execution.</a:t>
            </a: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30438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3000"/>
            <a:ext cx="9144000" cy="2286000"/>
          </a:xfrm>
          <a:noFill/>
        </p:spPr>
        <p:txBody>
          <a:bodyPr/>
          <a:lstStyle/>
          <a:p>
            <a:r>
              <a:rPr lang="en-US" dirty="0"/>
              <a:t>Visualizing the data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A336FEA9-C85A-3569-16F0-5ECBABBE0B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35198"/>
            <a:ext cx="9144000" cy="68321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936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AA2678-D2AD-6101-2A00-2289475AE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E17738-72D8-FCB3-B6F2-34FC0ACD9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768485"/>
            <a:ext cx="54864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159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3EF8E-0040-4A7D-9D4B-BA426BA1F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E04B7B5-C7A2-67C8-466C-3ABFD90B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85F6AF-3912-017C-679D-66F031823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758758"/>
            <a:ext cx="54673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434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BF0A7-65D5-7185-3EAD-A3D001506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37F63CD-FFF7-1A43-21C6-4B532DF63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C460A4-ABAD-86D9-FEB8-73241AE8A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865762"/>
            <a:ext cx="54673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971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B21B0-32B0-C4DE-E79A-EEB046589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527684-240C-D9DD-3029-5DD91DB40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4A45DD-CFAB-361D-C731-7A0288456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846306"/>
            <a:ext cx="54673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059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2316B-3BB5-5EA1-A65A-814962F5A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12BD35-71FD-0BDA-BEB5-2426F8518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C24523-9D9B-7E23-2588-FBAB1392A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749030"/>
            <a:ext cx="54673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650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C3ADF-16DC-80F3-1246-655A3ADAA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71ED64-11AF-31AB-B207-DCD314B0B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914977-5386-1D8C-5888-B64E7B2A5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031132"/>
            <a:ext cx="54673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476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59E52-5980-4BA5-3A6E-9584B8B7C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2FBDDD-A8E6-9E5F-6B18-0ED80A172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D53E63-F40C-7F51-1BE4-F6A93653D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902" y="620037"/>
            <a:ext cx="7666916" cy="473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177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8F846-EE0A-4894-D889-54EEE6E09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C59F1-5F6E-D35E-CD62-B52385419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/>
              <a:t>Comparing model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645CA52-80EE-3947-1242-CC65843BD8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924219"/>
              </p:ext>
            </p:extLst>
          </p:nvPr>
        </p:nvGraphicFramePr>
        <p:xfrm>
          <a:off x="1196502" y="1838529"/>
          <a:ext cx="8978630" cy="3161904"/>
        </p:xfrm>
        <a:graphic>
          <a:graphicData uri="http://schemas.openxmlformats.org/drawingml/2006/table">
            <a:tbl>
              <a:tblPr/>
              <a:tblGrid>
                <a:gridCol w="2572966">
                  <a:extLst>
                    <a:ext uri="{9D8B030D-6E8A-4147-A177-3AD203B41FA5}">
                      <a16:colId xmlns:a16="http://schemas.microsoft.com/office/drawing/2014/main" val="573253766"/>
                    </a:ext>
                  </a:extLst>
                </a:gridCol>
                <a:gridCol w="2572966">
                  <a:extLst>
                    <a:ext uri="{9D8B030D-6E8A-4147-A177-3AD203B41FA5}">
                      <a16:colId xmlns:a16="http://schemas.microsoft.com/office/drawing/2014/main" val="335560727"/>
                    </a:ext>
                  </a:extLst>
                </a:gridCol>
                <a:gridCol w="3832698">
                  <a:extLst>
                    <a:ext uri="{9D8B030D-6E8A-4147-A177-3AD203B41FA5}">
                      <a16:colId xmlns:a16="http://schemas.microsoft.com/office/drawing/2014/main" val="1129226752"/>
                    </a:ext>
                  </a:extLst>
                </a:gridCol>
              </a:tblGrid>
              <a:tr h="790476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             MODEL                      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 Cross Validation Scores</a:t>
                      </a:r>
                    </a:p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              MEAN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        STANDARD DEVIATION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094393"/>
                  </a:ext>
                </a:extLst>
              </a:tr>
              <a:tr h="790476">
                <a:tc>
                  <a:txBody>
                    <a:bodyPr/>
                    <a:lstStyle/>
                    <a:p>
                      <a:r>
                        <a:rPr lang="en-US" dirty="0"/>
                        <a:t>Linear Regression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1.18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0.09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4997339"/>
                  </a:ext>
                </a:extLst>
              </a:tr>
              <a:tr h="790476">
                <a:tc>
                  <a:txBody>
                    <a:bodyPr/>
                    <a:lstStyle/>
                    <a:p>
                      <a:r>
                        <a:rPr lang="en-US" dirty="0"/>
                        <a:t>Decision Tree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1.12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0.14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8101051"/>
                  </a:ext>
                </a:extLst>
              </a:tr>
              <a:tr h="790476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0.86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0.12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7710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8088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37" y="400485"/>
            <a:ext cx="9467127" cy="25279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6613063-168A-02B8-4326-BB842F3B83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075" y="3738622"/>
            <a:ext cx="9467850" cy="2527911"/>
          </a:xfrm>
        </p:spPr>
        <p:txBody>
          <a:bodyPr/>
          <a:lstStyle/>
          <a:p>
            <a:r>
              <a:rPr lang="en-US" dirty="0"/>
              <a:t>Vansh Patwa</a:t>
            </a:r>
          </a:p>
          <a:p>
            <a:r>
              <a:rPr lang="en-US" dirty="0"/>
              <a:t>School of Chemical Sciences, NISER Bhubaneswar</a:t>
            </a:r>
          </a:p>
          <a:p>
            <a:r>
              <a:rPr lang="en-US" dirty="0"/>
              <a:t>https://github.com/VanshPatwa/ML---Chemistry-Project</a:t>
            </a:r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133</TotalTime>
  <Words>125</Words>
  <Application>Microsoft Office PowerPoint</Application>
  <PresentationFormat>Widescreen</PresentationFormat>
  <Paragraphs>34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Wingdings</vt:lpstr>
      <vt:lpstr>Custom</vt:lpstr>
      <vt:lpstr>Solubility prediction using machine leaning.</vt:lpstr>
      <vt:lpstr>Poor aqueous solubility accounts for a massive percentage of early-stage failures in pharmaceutical development.   Laboratory bench measurements of log(s)require physical compounds, high-purity solvents, and days of experimental execution.          </vt:lpstr>
      <vt:lpstr>Visualizing the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Comparing model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5</cp:revision>
  <dcterms:created xsi:type="dcterms:W3CDTF">2026-05-27T10:46:03Z</dcterms:created>
  <dcterms:modified xsi:type="dcterms:W3CDTF">2026-09-25T09:32:38Z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